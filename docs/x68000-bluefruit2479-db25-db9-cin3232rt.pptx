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2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74C"/>
                </a:solidFill>
              </a:rPr>
              <a:t>#2479 を共通コアにした統一構成（USBCpow 追記版）</a:t>
            </a:r>
          </a:p>
          <a:p>
            <a:pPr>
              <a:defRPr sz="1050">
                <a:solidFill>
                  <a:srgbClr val="5F6978"/>
                </a:solidFill>
              </a:defRPr>
            </a:pPr>
            <a:r>
              <a:t>PC / macOS / Ubuntu / X68000Z / X68000 実機のすべてで Bluefruit LE UART Friend #2479 を中心に使う方針</a:t>
            </a:r>
          </a:p>
        </p:txBody>
      </p:sp>
      <p:pic>
        <p:nvPicPr>
          <p:cNvPr id="3" name="Picture 2" descr="wide_clean_studio_product_diagram_illustration_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11064240" cy="622694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" y="5623560"/>
            <a:ext cx="10972800" cy="548640"/>
          </a:xfrm>
          <a:prstGeom prst="roundRect">
            <a:avLst/>
          </a:prstGeom>
          <a:solidFill>
            <a:srgbClr val="E9F8F1"/>
          </a:solidFill>
          <a:ln>
            <a:solidFill>
              <a:srgbClr val="1B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274C"/>
                </a:solidFill>
              </a:defRPr>
            </a:pPr>
            <a:r>
              <a:t>推奨方針：#2479 に 1x8 メスのピンソケットをはんだ付けし、接続先ごとにジャンパ線だけ差し替える。Z 用 5V は USBCpow から供給。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28232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補足：PC側はお持ちの秋月 AE-TTL-232R を流用。X68000Z は TX/RX/GND に加えて外部 5V が必要。X68000 実機は RS-232C のため MAX3232 を挟む。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74C"/>
                </a:solidFill>
              </a:rPr>
              <a:t>部品一覧（実物イメージ参考）</a:t>
            </a:r>
          </a:p>
          <a:p>
            <a:pPr>
              <a:defRPr sz="1050">
                <a:solidFill>
                  <a:srgbClr val="5F6978"/>
                </a:solidFill>
              </a:defRPr>
            </a:pPr>
            <a:r>
              <a:t>番号付き一覧。下の表で用途・価格・URL を確認できます。</a:t>
            </a:r>
          </a:p>
        </p:txBody>
      </p:sp>
      <p:pic>
        <p:nvPicPr>
          <p:cNvPr id="3" name="Picture 2" descr="parts_annotated_v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583680" cy="4937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0" y="960120"/>
            <a:ext cx="43434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tlCol="0" anchor="ctr"/>
          <a:lstStyle/>
          <a:p>
            <a:pPr algn="ctr">
              <a:defRPr sz="1400">
                <a:solidFill>
                  <a:srgbClr val="16274C"/>
                </a:solidFill>
              </a:defRPr>
            </a:pPr>
            <a:r>
              <a:t>1. Bluefruit LE UART Friend #2479</a:t>
            </a:r>
          </a:p>
          <a:p>
            <a:pPr>
              <a:defRPr sz="1400">
                <a:solidFill>
                  <a:srgbClr val="16274C"/>
                </a:solidFill>
              </a:defRPr>
            </a:pPr>
            <a:r>
              <a:t>2. AE-TTL-232R（PC用 USB-UART）</a:t>
            </a:r>
          </a:p>
          <a:p>
            <a:pPr>
              <a:defRPr sz="1400">
                <a:solidFill>
                  <a:srgbClr val="16274C"/>
                </a:solidFill>
              </a:defRPr>
            </a:pPr>
            <a:r>
              <a:t>3. USBCpow（Z用 5V/3.3V 電源取り出し）</a:t>
            </a:r>
          </a:p>
          <a:p>
            <a:pPr>
              <a:defRPr sz="1400">
                <a:solidFill>
                  <a:srgbClr val="16274C"/>
                </a:solidFill>
              </a:defRPr>
            </a:pPr>
            <a:r>
              <a:t>4. MAX3232 系レベル変換（X68000 実機用）</a:t>
            </a:r>
          </a:p>
          <a:p>
            <a:pPr>
              <a:defRPr sz="1400">
                <a:solidFill>
                  <a:srgbClr val="16274C"/>
                </a:solidFill>
              </a:defRPr>
            </a:pPr>
            <a:r>
              <a:t>5. DB25 オス＋フード（X68000 AUX 側）</a:t>
            </a:r>
          </a:p>
          <a:p>
            <a:pPr>
              <a:defRPr sz="1400">
                <a:solidFill>
                  <a:srgbClr val="16274C"/>
                </a:solidFill>
              </a:defRPr>
            </a:pPr>
            <a:r>
              <a:t>6. ブレッドボード（初期試作用）</a:t>
            </a:r>
          </a:p>
          <a:p>
            <a:pPr>
              <a:defRPr sz="1400">
                <a:solidFill>
                  <a:srgbClr val="16274C"/>
                </a:solidFill>
              </a:defRPr>
            </a:pPr>
            <a:r>
              <a:t>7. ジャンパ線（メス-メス中心）</a:t>
            </a:r>
          </a:p>
          <a:p>
            <a:pPr>
              <a:defRPr sz="1400">
                <a:solidFill>
                  <a:srgbClr val="16274C"/>
                </a:solidFill>
              </a:defRPr>
            </a:pPr>
            <a:r>
              <a:t>8. 1x8 メスのピンソケット（#2479 に実装）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5532120"/>
            <a:ext cx="4343400" cy="640080"/>
          </a:xfrm>
          <a:prstGeom prst="roundRect">
            <a:avLst/>
          </a:prstGeom>
          <a:solidFill>
            <a:srgbClr val="FFF8E1"/>
          </a:solidFill>
          <a:ln>
            <a:solidFill>
              <a:srgbClr val="BF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6274C"/>
                </a:solidFill>
              </a:defRPr>
            </a:pPr>
            <a:r>
              <a:t>おすすめ：#2479 側にだけ 1x8 メスソケットを実装し、各ホスト側ケーブルは Dupont メス端子で差し替え。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28232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画像は「実物イメージの参考」です。購入前に各ショップの外観・端子向き・ピン数を確認してください。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74C"/>
                </a:solidFill>
              </a:rPr>
              <a:t>部品一覧（用途 / 価格目安 / URL）</a:t>
            </a:r>
          </a:p>
          <a:p>
            <a:pPr>
              <a:defRPr sz="1050">
                <a:solidFill>
                  <a:srgbClr val="5F6978"/>
                </a:solidFill>
              </a:defRPr>
            </a:pPr>
            <a:r>
              <a:t>価格は 2026-09-07 時点の目安。送料・在庫・税込表示は購入時に再確認。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54406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bluefruit24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024128"/>
            <a:ext cx="96012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18488" y="987552"/>
            <a:ext cx="416052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6274C"/>
                </a:solidFill>
              </a:defRPr>
            </a:pPr>
            <a:r>
              <a:t>1. #2479  Bluefruit LE UART Friend</a:t>
            </a:r>
          </a:p>
          <a:p>
            <a:pPr>
              <a:defRPr sz="1100" b="0">
                <a:solidFill>
                  <a:srgbClr val="5F6978"/>
                </a:solidFill>
              </a:defRPr>
            </a:pPr>
            <a:r>
              <a:t>用途: 共通コア   価格目安: 約 ¥3,847</a:t>
            </a:r>
          </a:p>
          <a:p>
            <a:pPr>
              <a:defRPr sz="900" b="0">
                <a:solidFill>
                  <a:srgbClr val="2860BE"/>
                </a:solidFill>
              </a:defRPr>
            </a:pPr>
            <a:r>
              <a:t>https://www.marutsu.co.jp/pc/i/27347995/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914400"/>
            <a:ext cx="54406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e_ttl_232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024128"/>
            <a:ext cx="96012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96328" y="987552"/>
            <a:ext cx="416052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6274C"/>
                </a:solidFill>
              </a:defRPr>
            </a:pPr>
            <a:r>
              <a:t>2. AE-TTL-232R  USB-UART 変換</a:t>
            </a:r>
          </a:p>
          <a:p>
            <a:pPr>
              <a:defRPr sz="1100" b="0">
                <a:solidFill>
                  <a:srgbClr val="5F6978"/>
                </a:solidFill>
              </a:defRPr>
            </a:pPr>
            <a:r>
              <a:t>用途: PC/macOS/Ubuntu   価格目安: ¥1,300</a:t>
            </a:r>
          </a:p>
          <a:p>
            <a:pPr>
              <a:defRPr sz="900" b="0">
                <a:solidFill>
                  <a:srgbClr val="2860BE"/>
                </a:solidFill>
              </a:defRPr>
            </a:pPr>
            <a:r>
              <a:t>https://akizukidenshi.com/catalog/g/g111007/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76272"/>
            <a:ext cx="54406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usbcp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286000"/>
            <a:ext cx="960120" cy="868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18488" y="2249424"/>
            <a:ext cx="416052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6274C"/>
                </a:solidFill>
              </a:defRPr>
            </a:pPr>
            <a:r>
              <a:t>3. USBCpow  USB-C から 5V/3.3V</a:t>
            </a:r>
          </a:p>
          <a:p>
            <a:pPr>
              <a:defRPr sz="1100" b="0">
                <a:solidFill>
                  <a:srgbClr val="5F6978"/>
                </a:solidFill>
              </a:defRPr>
            </a:pPr>
            <a:r>
              <a:t>用途: X68000Z の外部 5V   価格目安: ¥450</a:t>
            </a:r>
          </a:p>
          <a:p>
            <a:pPr>
              <a:defRPr sz="900" b="0">
                <a:solidFill>
                  <a:srgbClr val="2860BE"/>
                </a:solidFill>
              </a:defRPr>
            </a:pPr>
            <a:r>
              <a:t>https://www.switch-science.com/products/6435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2176272"/>
            <a:ext cx="54406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max32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2286000"/>
            <a:ext cx="960120" cy="868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96328" y="2249424"/>
            <a:ext cx="416052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6274C"/>
                </a:solidFill>
              </a:defRPr>
            </a:pPr>
            <a:r>
              <a:t>4. MAX3232  RS-232C ↔ TTL 変換</a:t>
            </a:r>
          </a:p>
          <a:p>
            <a:pPr>
              <a:defRPr sz="1100" b="0">
                <a:solidFill>
                  <a:srgbClr val="5F6978"/>
                </a:solidFill>
              </a:defRPr>
            </a:pPr>
            <a:r>
              <a:t>用途: X68000 実機   価格目安: 数百円〜</a:t>
            </a:r>
          </a:p>
          <a:p>
            <a:pPr>
              <a:defRPr sz="900" b="0">
                <a:solidFill>
                  <a:srgbClr val="2860BE"/>
                </a:solidFill>
              </a:defRPr>
            </a:pPr>
            <a:r>
              <a:t>例: MAX3232 モジュール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38144"/>
            <a:ext cx="54406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db2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3547872"/>
            <a:ext cx="960120" cy="8686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18488" y="3511296"/>
            <a:ext cx="416052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6274C"/>
                </a:solidFill>
              </a:defRPr>
            </a:pPr>
            <a:r>
              <a:t>5. DB25 + フード  X68000 AUX 用</a:t>
            </a:r>
          </a:p>
          <a:p>
            <a:pPr>
              <a:defRPr sz="1100" b="0">
                <a:solidFill>
                  <a:srgbClr val="5F6978"/>
                </a:solidFill>
              </a:defRPr>
            </a:pPr>
            <a:r>
              <a:t>用途: X68000 実機   価格目安: 約 ¥2,650</a:t>
            </a:r>
          </a:p>
          <a:p>
            <a:pPr>
              <a:defRPr sz="900" b="0">
                <a:solidFill>
                  <a:srgbClr val="2860BE"/>
                </a:solidFill>
              </a:defRPr>
            </a:pPr>
            <a:r>
              <a:t>DB-25P-T-NR + MHDTPK25-K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438144"/>
            <a:ext cx="54406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bread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912" y="3547872"/>
            <a:ext cx="960120" cy="8686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196328" y="3511296"/>
            <a:ext cx="416052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6274C"/>
                </a:solidFill>
              </a:defRPr>
            </a:pPr>
            <a:r>
              <a:t>6. ブレッドボード  初期試作</a:t>
            </a:r>
          </a:p>
          <a:p>
            <a:pPr>
              <a:defRPr sz="1100" b="0">
                <a:solidFill>
                  <a:srgbClr val="5F6978"/>
                </a:solidFill>
              </a:defRPr>
            </a:pPr>
            <a:r>
              <a:t>用途: 共通   価格目安: ¥586</a:t>
            </a:r>
          </a:p>
          <a:p>
            <a:pPr>
              <a:defRPr sz="900" b="0">
                <a:solidFill>
                  <a:srgbClr val="2860BE"/>
                </a:solidFill>
              </a:defRPr>
            </a:pPr>
            <a:r>
              <a:t>https://www.switch-science.com/products/4541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700016"/>
            <a:ext cx="54406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jump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" y="4809744"/>
            <a:ext cx="960120" cy="8686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18488" y="4773168"/>
            <a:ext cx="416052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6274C"/>
                </a:solidFill>
              </a:defRPr>
            </a:pPr>
            <a:r>
              <a:t>7. ジャンパ線  メス-メス中心</a:t>
            </a:r>
          </a:p>
          <a:p>
            <a:pPr>
              <a:defRPr sz="1100" b="0">
                <a:solidFill>
                  <a:srgbClr val="5F6978"/>
                </a:solidFill>
              </a:defRPr>
            </a:pPr>
            <a:r>
              <a:t>用途: 共通   価格目安: ¥872 前後</a:t>
            </a:r>
          </a:p>
          <a:p>
            <a:pPr>
              <a:defRPr sz="900" b="0">
                <a:solidFill>
                  <a:srgbClr val="2860BE"/>
                </a:solidFill>
              </a:defRPr>
            </a:pPr>
            <a:r>
              <a:t>https://www.switch-science.com/products/4580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4700016"/>
            <a:ext cx="54406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socket_1x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912" y="4809744"/>
            <a:ext cx="960120" cy="8686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196328" y="4773168"/>
            <a:ext cx="416052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6274C"/>
                </a:solidFill>
              </a:defRPr>
            </a:pPr>
            <a:r>
              <a:t>8. 1x8 メスソケット  2.54mm ピッチ</a:t>
            </a:r>
          </a:p>
          <a:p>
            <a:pPr>
              <a:defRPr sz="1100" b="0">
                <a:solidFill>
                  <a:srgbClr val="5F6978"/>
                </a:solidFill>
              </a:defRPr>
            </a:pPr>
            <a:r>
              <a:t>用途: #2479 へ実装   価格目安: 約 ¥80</a:t>
            </a:r>
          </a:p>
          <a:p>
            <a:pPr>
              <a:defRPr sz="900" b="0">
                <a:solidFill>
                  <a:srgbClr val="2860BE"/>
                </a:solidFill>
              </a:defRPr>
            </a:pPr>
            <a:r>
              <a:t>例: 秋月 FHU-1x42SG を 8 ピン分カット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28232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#2479 は共通、Z 用 5V は USBCpow、PC は AE-TTL-232R、X68000 実機は MAX3232 + DB25。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74C"/>
                </a:solidFill>
              </a:rPr>
              <a:t>共通準備 + PC/macOS/Ubuntu 配線</a:t>
            </a:r>
          </a:p>
          <a:p>
            <a:pPr>
              <a:defRPr sz="1050">
                <a:solidFill>
                  <a:srgbClr val="5F6978"/>
                </a:solidFill>
              </a:defRPr>
            </a:pPr>
            <a:r>
              <a:t>#2479 にピンソケットを実装し、PC では AE-TTL-232R を差し替えて使う。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3749039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bluefruit24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1143000" cy="1619250"/>
          </a:xfrm>
          <a:prstGeom prst="rect">
            <a:avLst/>
          </a:prstGeom>
        </p:spPr>
      </p:pic>
      <p:pic>
        <p:nvPicPr>
          <p:cNvPr id="5" name="Picture 4" descr="socket_1x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1417320"/>
            <a:ext cx="1188720" cy="10189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42316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6274C"/>
                </a:solidFill>
              </a:defRPr>
            </a:pPr>
            <a:r>
              <a:t>・#2479 側に 1x8 メスソケットをはんだ付け</a:t>
            </a:r>
          </a:p>
          <a:p>
            <a:pPr>
              <a:defRPr sz="1400" b="0">
                <a:solidFill>
                  <a:srgbClr val="16274C"/>
                </a:solidFill>
              </a:defRPr>
            </a:pPr>
            <a:r>
              <a:t>・各ホスト側ケーブルは 2.54mm ジャンパで差し替え</a:t>
            </a:r>
          </a:p>
          <a:p>
            <a:pPr>
              <a:defRPr sz="1400" b="0">
                <a:solidFill>
                  <a:srgbClr val="16274C"/>
                </a:solidFill>
              </a:defRPr>
            </a:pPr>
            <a:r>
              <a:t>・向きの目印（VIN 側/ GND 側）を油性ペン等で付けると安全</a:t>
            </a:r>
          </a:p>
          <a:p>
            <a:pPr>
              <a:defRPr sz="1400" b="0">
                <a:solidFill>
                  <a:srgbClr val="16274C"/>
                </a:solidFill>
              </a:defRPr>
            </a:pPr>
            <a:r>
              <a:t>・最初は 9600bps / 8N1 で開始</a:t>
            </a:r>
          </a:p>
          <a:p>
            <a:pPr>
              <a:defRPr sz="1400" b="0">
                <a:solidFill>
                  <a:srgbClr val="16274C"/>
                </a:solidFill>
              </a:defRPr>
            </a:pPr>
            <a:r>
              <a:t>・HW flow control が難しければ、まず CTS=GND 固定で 3線試験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914400"/>
            <a:ext cx="7178040" cy="3703320"/>
          </a:xfrm>
          <a:prstGeom prst="roundRect">
            <a:avLst/>
          </a:prstGeom>
          <a:solidFill>
            <a:srgbClr val="FFFF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617720" y="1143000"/>
          <a:ext cx="690372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6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74C"/>
                          </a:solidFill>
                        </a:rPr>
                        <a:t>AE-TTL-232R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74C"/>
                          </a:solidFill>
                        </a:rPr>
                        <a:t>方向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74C"/>
                          </a:solidFill>
                        </a:rPr>
                        <a:t>#2479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74C"/>
                          </a:solidFill>
                        </a:rPr>
                        <a:t>メモ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6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74C"/>
                          </a:solidFill>
                        </a:rPr>
                        <a:t>pin1 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74C"/>
                          </a:solidFill>
                        </a:rPr>
                        <a:t>&lt;-&gt;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74C"/>
                          </a:solidFill>
                        </a:rPr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74C"/>
                          </a:solidFill>
                        </a:rPr>
                        <a:t>共通GND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6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74C"/>
                          </a:solidFill>
                        </a:rPr>
                        <a:t>pin3 +5V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74C"/>
                          </a:solidFill>
                        </a:rPr>
                        <a:t>-&gt;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74C"/>
                          </a:solidFill>
                        </a:rPr>
                        <a:t>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74C"/>
                          </a:solidFill>
                        </a:rPr>
                        <a:t>#2479 へ給電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6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74C"/>
                          </a:solidFill>
                        </a:rPr>
                        <a:t>pin4 TXD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74C"/>
                          </a:solidFill>
                        </a:rPr>
                        <a:t>-&gt;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74C"/>
                          </a:solidFill>
                        </a:rPr>
                        <a:t>RXI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74C"/>
                          </a:solidFill>
                        </a:rPr>
                        <a:t>PC -&gt; 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6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74C"/>
                          </a:solidFill>
                        </a:rPr>
                        <a:t>pin5 RXD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74C"/>
                          </a:solidFill>
                        </a:rPr>
                        <a:t>&lt;-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74C"/>
                          </a:solidFill>
                        </a:rPr>
                        <a:t>TXO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74C"/>
                          </a:solidFill>
                        </a:rPr>
                        <a:t>BLE -&gt; PC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6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74C"/>
                          </a:solidFill>
                        </a:rPr>
                        <a:t>pin6 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74C"/>
                          </a:solidFill>
                        </a:rPr>
                        <a:t>-&gt;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74C"/>
                          </a:solidFill>
                        </a:rPr>
                        <a:t>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74C"/>
                          </a:solidFill>
                        </a:rPr>
                        <a:t>任意、安定化用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6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74C"/>
                          </a:solidFill>
                        </a:rPr>
                        <a:t>pin2 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74C"/>
                          </a:solidFill>
                        </a:rPr>
                        <a:t>&lt;-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74C"/>
                          </a:solidFill>
                        </a:rPr>
                        <a:t>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74C"/>
                          </a:solidFill>
                        </a:rPr>
                        <a:t>任意、安定化用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617720" y="4526280"/>
            <a:ext cx="6858000" cy="1234440"/>
          </a:xfrm>
          <a:prstGeom prst="roundRect">
            <a:avLst/>
          </a:prstGeom>
          <a:solidFill>
            <a:srgbClr val="E9F8F1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6274C"/>
                </a:solidFill>
              </a:defRPr>
            </a:pPr>
            <a:r>
              <a:t>AE-TTL-232R はピンソケット実装済み。信号レベルはまず 3.3V 側を推奨。</a:t>
            </a:r>
          </a:p>
          <a:p>
            <a:pPr>
              <a:defRPr sz="1300" b="0">
                <a:solidFill>
                  <a:srgbClr val="16274C"/>
                </a:solidFill>
              </a:defRPr>
            </a:pPr>
            <a:r>
              <a:t>Windows では COMx、macOS では /dev/cu.usbserial-*、Ubuntu では /dev/ttyUSB* として扱う。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28232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AE-TTL-232R の並びは製品シルクと秋月資料を必ず確認。USB-UART の TX/RX はクロス接続。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74C"/>
                </a:solidFill>
              </a:rPr>
              <a:t>X68000Z 配線（USBCpow で外部 5V を供給）</a:t>
            </a:r>
          </a:p>
          <a:p>
            <a:pPr>
              <a:defRPr sz="1050">
                <a:solidFill>
                  <a:srgbClr val="5F6978"/>
                </a:solidFill>
              </a:defRPr>
            </a:pPr>
            <a:r>
              <a:t>Z の UART は TX/RX/GND の 3 線が基本。#2479 用 5V は UART から取らず、USBCpow から供給する。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1920240" cy="914400"/>
          </a:xfrm>
          <a:prstGeom prst="roundRect">
            <a:avLst/>
          </a:prstGeom>
          <a:solidFill>
            <a:srgbClr val="EBF2FC"/>
          </a:solidFill>
          <a:ln>
            <a:solidFill>
              <a:srgbClr val="28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74C"/>
                </a:solidFill>
              </a:defRPr>
            </a:pPr>
            <a:r>
              <a:t>USB-C 電源</a:t>
            </a:r>
            <a:br/>
            <a:r>
              <a:t>(ACアダプタ or</a:t>
            </a:r>
            <a:br/>
            <a:r>
              <a:t>モバイルバッテリー)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188720"/>
            <a:ext cx="1920240" cy="914400"/>
          </a:xfrm>
          <a:prstGeom prst="roundRect">
            <a:avLst/>
          </a:prstGeom>
          <a:solidFill>
            <a:srgbClr val="E9F8F1"/>
          </a:solidFill>
          <a:ln>
            <a:solidFill>
              <a:srgbClr val="1B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74C"/>
                </a:solidFill>
              </a:defRPr>
            </a:pPr>
            <a:r>
              <a:t>USBCpow</a:t>
            </a:r>
            <a:br/>
            <a:r>
              <a:t>5V / GND 取り出し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4920" y="1188720"/>
            <a:ext cx="2103120" cy="914400"/>
          </a:xfrm>
          <a:prstGeom prst="roundRect">
            <a:avLst/>
          </a:prstGeom>
          <a:solidFill>
            <a:srgbClr val="EBF2FC"/>
          </a:solidFill>
          <a:ln>
            <a:solidFill>
              <a:srgbClr val="28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74C"/>
                </a:solidFill>
              </a:defRPr>
            </a:pPr>
            <a:r>
              <a:t>Bluefruit #2479</a:t>
            </a:r>
            <a:br/>
            <a:r>
              <a:t>VIN / GND / RXI / TXO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188720"/>
            <a:ext cx="2103120" cy="914400"/>
          </a:xfrm>
          <a:prstGeom prst="roundRect">
            <a:avLst/>
          </a:prstGeom>
          <a:solidFill>
            <a:srgbClr val="FFF8E1"/>
          </a:solidFill>
          <a:ln>
            <a:solidFill>
              <a:srgbClr val="C8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74C"/>
                </a:solidFill>
              </a:defRPr>
            </a:pPr>
            <a:r>
              <a:t>X68000Z UART</a:t>
            </a:r>
            <a:br/>
            <a:r>
              <a:t>TX / RX / GND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1645920"/>
            <a:ext cx="182880" cy="0"/>
          </a:xfrm>
          <a:prstGeom prst="line">
            <a:avLst/>
          </a:prstGeom>
          <a:ln w="28575">
            <a:solidFill>
              <a:srgbClr val="286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663440" y="1645920"/>
            <a:ext cx="411480" cy="0"/>
          </a:xfrm>
          <a:prstGeom prst="line">
            <a:avLst/>
          </a:prstGeom>
          <a:ln w="28575">
            <a:solidFill>
              <a:srgbClr val="286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78040" y="1600200"/>
            <a:ext cx="1234440" cy="0"/>
          </a:xfrm>
          <a:prstGeom prst="line">
            <a:avLst/>
          </a:prstGeom>
          <a:ln w="28575">
            <a:solidFill>
              <a:srgbClr val="286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2423160"/>
            <a:ext cx="4572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16274C"/>
                </a:solidFill>
              </a:defRPr>
            </a:pPr>
            <a:r>
              <a:t>配線:</a:t>
            </a:r>
          </a:p>
          <a:p>
            <a:pPr>
              <a:defRPr sz="1400" b="0">
                <a:solidFill>
                  <a:srgbClr val="16274C"/>
                </a:solidFill>
              </a:defRPr>
            </a:pPr>
            <a:r>
              <a:t>・USBCpow 5V  -&gt; #2479 VIN</a:t>
            </a:r>
          </a:p>
          <a:p>
            <a:pPr>
              <a:defRPr sz="1400" b="0">
                <a:solidFill>
                  <a:srgbClr val="16274C"/>
                </a:solidFill>
              </a:defRPr>
            </a:pPr>
            <a:r>
              <a:t>・USBCpow GND -&gt; #2479 GND</a:t>
            </a:r>
          </a:p>
          <a:p>
            <a:pPr>
              <a:defRPr sz="1400" b="0">
                <a:solidFill>
                  <a:srgbClr val="16274C"/>
                </a:solidFill>
              </a:defRPr>
            </a:pPr>
            <a:r>
              <a:t>・X68000Z GND -&gt; #2479 GND（共通化）</a:t>
            </a:r>
          </a:p>
          <a:p>
            <a:pPr>
              <a:defRPr sz="1400" b="0">
                <a:solidFill>
                  <a:srgbClr val="16274C"/>
                </a:solidFill>
              </a:defRPr>
            </a:pPr>
            <a:r>
              <a:t>・X68000Z TX  -&gt; #2479 RXI</a:t>
            </a:r>
          </a:p>
          <a:p>
            <a:pPr>
              <a:defRPr sz="1400" b="0">
                <a:solidFill>
                  <a:srgbClr val="16274C"/>
                </a:solidFill>
              </a:defRPr>
            </a:pPr>
            <a:r>
              <a:t>・X68000Z RX  &lt;- #2479 TXO</a:t>
            </a:r>
          </a:p>
          <a:p>
            <a:pPr>
              <a:defRPr sz="1400" b="0">
                <a:solidFill>
                  <a:srgbClr val="16274C"/>
                </a:solidFill>
              </a:defRPr>
            </a:pPr>
            <a:r>
              <a:t>・#2479 CTS   -&gt; GND（初期は固定）</a:t>
            </a:r>
          </a:p>
          <a:p>
            <a:pPr>
              <a:defRPr sz="1400" b="0">
                <a:solidFill>
                  <a:srgbClr val="16274C"/>
                </a:solidFill>
              </a:defRPr>
            </a:pPr>
            <a:r>
              <a:t>・#2479 RTS   は未接続で可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2423160"/>
            <a:ext cx="6080760" cy="3383280"/>
          </a:xfrm>
          <a:prstGeom prst="roundRect">
            <a:avLst/>
          </a:prstGeom>
          <a:solidFill>
            <a:srgbClr val="E9F8F1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16274C"/>
                </a:solidFill>
              </a:defRPr>
            </a:pPr>
            <a:r>
              <a:t>ポイント:</a:t>
            </a:r>
          </a:p>
          <a:p>
            <a:pPr>
              <a:defRPr sz="1400" b="0">
                <a:solidFill>
                  <a:srgbClr val="16274C"/>
                </a:solidFill>
              </a:defRPr>
            </a:pPr>
            <a:r>
              <a:t>・Z の UART 端子から 5V は取らない</a:t>
            </a:r>
          </a:p>
          <a:p>
            <a:pPr>
              <a:defRPr sz="1400" b="0">
                <a:solidFill>
                  <a:srgbClr val="16274C"/>
                </a:solidFill>
              </a:defRPr>
            </a:pPr>
            <a:r>
              <a:t>・USBCpow は USB-C から 5V/3.3V を簡単に引き出せるので Z 用に相性が良い</a:t>
            </a:r>
          </a:p>
          <a:p>
            <a:pPr>
              <a:defRPr sz="1400" b="0">
                <a:solidFill>
                  <a:srgbClr val="16274C"/>
                </a:solidFill>
              </a:defRPr>
            </a:pPr>
            <a:r>
              <a:t>・最初は ASCII と CR(0x0D) だけで動作確認</a:t>
            </a:r>
          </a:p>
          <a:p>
            <a:pPr>
              <a:defRPr sz="1400" b="0">
                <a:solidFill>
                  <a:srgbClr val="16274C"/>
                </a:solidFill>
              </a:defRPr>
            </a:pPr>
            <a:r>
              <a:t>・文字落ちや不安定さがあれば、送信間隔を少し空ける</a:t>
            </a:r>
          </a:p>
          <a:p>
            <a:pPr>
              <a:defRPr sz="1400" b="0">
                <a:solidFill>
                  <a:srgbClr val="16274C"/>
                </a:solidFill>
              </a:defRPr>
            </a:pPr>
            <a:r>
              <a:t>・実ケーブルの色と端子向きは必ず現物で再確認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28232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安全策として、Z の試験では外部 USB-C 電源 + USBCpow を推奨。USB 給電の GND と Z の GND は共通化する。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74C"/>
                </a:solidFill>
              </a:rPr>
              <a:t>X68000 実機 配線（DB25 / RS-232C → MAX3232 → #2479）</a:t>
            </a:r>
          </a:p>
          <a:p>
            <a:pPr>
              <a:defRPr sz="1050">
                <a:solidFill>
                  <a:srgbClr val="5F6978"/>
                </a:solidFill>
              </a:defRPr>
            </a:pPr>
            <a:r>
              <a:t>実機は RS-232C レベルなので、そのまま #2479 へ入れず MAX3232 を挟む。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97480" y="1783080"/>
            <a:ext cx="457200" cy="0"/>
          </a:xfrm>
          <a:prstGeom prst="line">
            <a:avLst/>
          </a:prstGeom>
          <a:ln w="27940">
            <a:solidFill>
              <a:srgbClr val="286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892040" y="1783080"/>
            <a:ext cx="685800" cy="0"/>
          </a:xfrm>
          <a:prstGeom prst="line">
            <a:avLst/>
          </a:prstGeom>
          <a:ln w="27940">
            <a:solidFill>
              <a:srgbClr val="286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2743200"/>
            <a:ext cx="109728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16274C"/>
                </a:solidFill>
              </a:defRPr>
            </a:pPr>
            <a:r>
              <a:t>最小 3線テスト: DB25 pin2(TXD) -&gt; MAX3232 -&gt; #2479 RXI / DB25 pin3(RXD) &lt;- MAX3232 &lt;- #2479 TXO / DB25 pin7(SG) -&gt; GND</a:t>
            </a:r>
          </a:p>
          <a:p>
            <a:pPr>
              <a:defRPr sz="1400" b="0">
                <a:solidFill>
                  <a:srgbClr val="16274C"/>
                </a:solidFill>
              </a:defRPr>
            </a:pPr>
            <a:r>
              <a:t>本命 5線版: さらに DB25 pin4(RTS) -&gt; MAX3232 -&gt; #2479 CTS、DB25 pin5(CTS) &lt;- MAX3232 &lt;- #2479 RTS を追加</a:t>
            </a:r>
          </a:p>
          <a:p>
            <a:pPr>
              <a:defRPr sz="1400" b="0">
                <a:solidFill>
                  <a:srgbClr val="16274C"/>
                </a:solidFill>
              </a:defRPr>
            </a:pPr>
            <a:r>
              <a:t>電源: #2479 VIN と MAX3232 VCC には別途 5V を供給。GND は共通化。</a:t>
            </a:r>
          </a:p>
          <a:p>
            <a:pPr>
              <a:defRPr sz="1400" b="0">
                <a:solidFill>
                  <a:srgbClr val="16274C"/>
                </a:solidFill>
              </a:defRPr>
            </a:pPr>
            <a:r>
              <a:t>DTR/DSR/DCD が必要なソフト向けには、必要に応じて X68000 側だけ 20-6-8 のローカルジャンパを検討。</a:t>
            </a:r>
          </a:p>
          <a:p>
            <a:pPr>
              <a:defRPr sz="1400" b="0">
                <a:solidFill>
                  <a:srgbClr val="16274C"/>
                </a:solidFill>
              </a:defRPr>
            </a:pPr>
            <a:r>
              <a:t>注意: RS-232C 電圧を #2479 に直接入れないこと。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80"/>
            <a:ext cx="10972800" cy="438912"/>
          </a:xfrm>
          <a:prstGeom prst="roundRect">
            <a:avLst/>
          </a:prstGeom>
          <a:solidFill>
            <a:srgbClr val="FFF8E1"/>
          </a:solidFill>
          <a:ln>
            <a:solidFill>
              <a:srgbClr val="BF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74C"/>
                </a:solidFill>
              </a:defRPr>
            </a:pPr>
            <a:r>
              <a:t>まずはブレッドボードで 3線試作 → 安定後に RTS/CTS 付き 5線化 → その後に専用基板へ進むのが安全。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28232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DB25 コネクタのピン番号は実機側コネクタの向きで見誤りやすいため、通電前に再確認。</a:t>
            </a:r>
          </a:p>
        </p:txBody>
      </p:sp>
      <p:pic>
        <p:nvPicPr>
          <p:cNvPr id="3" name="Picture 2" descr="db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51560"/>
            <a:ext cx="2011680" cy="2011680"/>
          </a:xfrm>
          <a:prstGeom prst="rect">
            <a:avLst/>
          </a:prstGeom>
        </p:spPr>
      </p:pic>
      <p:pic>
        <p:nvPicPr>
          <p:cNvPr id="4" name="Picture 3" descr="max32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234440"/>
            <a:ext cx="1737360" cy="2362810"/>
          </a:xfrm>
          <a:prstGeom prst="rect">
            <a:avLst/>
          </a:prstGeom>
        </p:spPr>
      </p:pic>
      <p:pic>
        <p:nvPicPr>
          <p:cNvPr id="5" name="Picture 4" descr="bluefruit24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188720"/>
            <a:ext cx="1234440" cy="17487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74C"/>
                </a:solidFill>
              </a:rPr>
              <a:t>おすすめの進め方（短縮版）</a:t>
            </a:r>
          </a:p>
          <a:p>
            <a:pPr>
              <a:defRPr sz="1050">
                <a:solidFill>
                  <a:srgbClr val="5F6978"/>
                </a:solidFill>
              </a:defRPr>
            </a:pPr>
            <a:r>
              <a:t>まず動かすことを優先し、その後に配線を固める流れです。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539496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6274C"/>
                </a:solidFill>
              </a:defRPr>
            </a:pPr>
            <a:r>
              <a:t>Step 1. #2479 に 1x8 メスソケットを実装</a:t>
            </a:r>
          </a:p>
          <a:p>
            <a:pPr>
              <a:defRPr sz="1600" b="0">
                <a:solidFill>
                  <a:srgbClr val="16274C"/>
                </a:solidFill>
              </a:defRPr>
            </a:pPr>
            <a:r>
              <a:t>Step 2. PC で AE-TTL-232R + #2479 を接続し、iPhone / Bluefruit Connect で疎通確認</a:t>
            </a:r>
          </a:p>
          <a:p>
            <a:pPr>
              <a:defRPr sz="1600" b="0">
                <a:solidFill>
                  <a:srgbClr val="16274C"/>
                </a:solidFill>
              </a:defRPr>
            </a:pPr>
            <a:r>
              <a:t>Step 3. X68000Z で TX/RX/GND + USBCpow により外部 5V 給電で確認</a:t>
            </a:r>
          </a:p>
          <a:p>
            <a:pPr>
              <a:defRPr sz="1600" b="0">
                <a:solidFill>
                  <a:srgbClr val="16274C"/>
                </a:solidFill>
              </a:defRPr>
            </a:pPr>
            <a:r>
              <a:t>Step 4. X68000 実機は MAX3232 + DB25 で 3線試作</a:t>
            </a:r>
          </a:p>
          <a:p>
            <a:pPr>
              <a:defRPr sz="1600" b="0">
                <a:solidFill>
                  <a:srgbClr val="16274C"/>
                </a:solidFill>
              </a:defRPr>
            </a:pPr>
            <a:r>
              <a:t>Step 5. 必要時のみ RTS/CTS を追加</a:t>
            </a:r>
          </a:p>
          <a:p>
            <a:pPr>
              <a:defRPr sz="1600" b="0">
                <a:solidFill>
                  <a:srgbClr val="16274C"/>
                </a:solidFill>
              </a:defRPr>
            </a:pPr>
            <a:r>
              <a:t>Step 6. 最終的にケーブルや基板へ固定化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914400"/>
            <a:ext cx="4937760" cy="5303520"/>
          </a:xfrm>
          <a:prstGeom prst="roundRect">
            <a:avLst/>
          </a:prstGeom>
          <a:solidFill>
            <a:srgbClr val="E9F8F1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6274C"/>
                </a:solidFill>
              </a:defRPr>
            </a:pPr>
            <a:r>
              <a:t>判断基準:</a:t>
            </a:r>
          </a:p>
          <a:p>
            <a:pPr>
              <a:defRPr sz="1600" b="0">
                <a:solidFill>
                  <a:srgbClr val="16274C"/>
                </a:solidFill>
              </a:defRPr>
            </a:pPr>
            <a:r>
              <a:t>・差し替えやすさ優先 → #2479 側にメスソケット</a:t>
            </a:r>
          </a:p>
          <a:p>
            <a:pPr>
              <a:defRPr sz="1600" b="0">
                <a:solidFill>
                  <a:srgbClr val="16274C"/>
                </a:solidFill>
              </a:defRPr>
            </a:pPr>
            <a:r>
              <a:t>・Z で安全に 5V を取る → USBCpow</a:t>
            </a:r>
          </a:p>
          <a:p>
            <a:pPr>
              <a:defRPr sz="1600" b="0">
                <a:solidFill>
                  <a:srgbClr val="16274C"/>
                </a:solidFill>
              </a:defRPr>
            </a:pPr>
            <a:r>
              <a:t>・PC で既存資産を流用 → AE-TTL-232R</a:t>
            </a:r>
          </a:p>
          <a:p>
            <a:pPr>
              <a:defRPr sz="1600" b="0">
                <a:solidFill>
                  <a:srgbClr val="16274C"/>
                </a:solidFill>
              </a:defRPr>
            </a:pPr>
            <a:r>
              <a:t>・実機で電圧変換 → MAX3232</a:t>
            </a:r>
          </a:p>
          <a:p>
            <a:pPr>
              <a:defRPr sz="1600" b="0">
                <a:solidFill>
                  <a:srgbClr val="16274C"/>
                </a:solidFill>
              </a:defRPr>
            </a:pPr>
            <a:r>
              <a:t>・配線ミス防止 → ケーブルごとに色・ラベルを統一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623560"/>
            <a:ext cx="10607040" cy="548640"/>
          </a:xfrm>
          <a:prstGeom prst="roundRect">
            <a:avLst/>
          </a:prstGeom>
          <a:solidFill>
            <a:srgbClr val="EBF2FC"/>
          </a:solidFill>
          <a:ln>
            <a:solidFill>
              <a:srgbClr val="28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274C"/>
                </a:solidFill>
              </a:defRPr>
            </a:pPr>
            <a:r>
              <a:t>今回の更新点：Z 用 5V に USBCpow を明示し、部品一覧に実物イメージ参考画像を追加。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28232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Bluefruit #2479 を共通コア化することで、iPhone 側の BLE / NUS の挙動を PC・Z・実機でそろえて検証しやすくなる。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988</Words>
  <Application>Microsoft Office PowerPoint</Application>
  <PresentationFormat>ワイド画面</PresentationFormat>
  <Paragraphs>127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Nobuo Nakagawa</cp:lastModifiedBy>
  <cp:revision>2</cp:revision>
  <dcterms:created xsi:type="dcterms:W3CDTF">2013-01-27T09:14:16Z</dcterms:created>
  <dcterms:modified xsi:type="dcterms:W3CDTF">2026-09-07T12:07:20Z</dcterms:modified>
  <cp:category/>
</cp:coreProperties>
</file>